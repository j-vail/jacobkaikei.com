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 varScale="1">
        <p:scale>
          <a:sx n="118" d="100"/>
          <a:sy n="118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2168A-3140-BE8D-C7D8-0AB051659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7A78B4-B2BE-7BE5-9244-DCA3B4033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F765C-158A-5E2B-D706-41362FAF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4B9B31-86A2-9CE8-962B-20B470B8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B76DBA-5807-29F9-0E4B-64DC0C16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66457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758DFC-DC97-EE95-4B85-DF3994BF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B3E12A-2755-B581-EE61-F022F59E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C2E14B-F4AC-0CA4-57F9-D167954A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94D48-60D9-F9D4-D2BC-4A87909A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8820E-102A-7AFA-AAAC-7350068B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5807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FE326A-5F66-18D7-D6BE-531ACD2D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4861E5-5F0F-9C8C-0380-299DB88D2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3E8E09-882A-4E3B-FF53-4F7D24F1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47D139-8DFE-8D4D-39EC-F5057687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19958D-6E25-2AA6-2C61-8A09CBE6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82133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3A9E8-6627-0E62-B26E-3DE74A06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DDE9B3-EC9E-ADC9-D09D-2A3785DBA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9D797D-926C-BD15-1F63-2DF479C8D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BBC187-77EF-5A4A-0238-B150CE61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CBC4A2-FC23-E65D-E123-E68846D0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FB37E7-01B0-A5F8-6FCD-D6CC0DA0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94053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3A2E1-90D5-30E3-766D-B223AE96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C976FF-5536-9EFF-5CA2-4B6AA89C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F7059B-B29F-0559-F2FA-C52FD277D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EC2F5-DB65-F118-6CCF-10A7D473B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4E78E3-57E2-FBD1-9BC3-E241B3045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7AC688-D99E-B39B-790C-F76D8230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E68051-CFFF-2D17-6163-A0A33413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801D89-347E-EA77-8E31-B25BB9D2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9215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F0C81-2BD6-DE28-A55C-4780552F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024F65-FA05-F068-0511-30F6A2F4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5DF1BB-0AC9-0F10-4805-59D65947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2B35BD-1153-0399-C391-6D1C5BE4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50518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18FA89-30AF-09E7-4C4F-AF9D09C5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93FB9A-8E31-3181-7BF8-55E866E8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B937D5-9BAC-DDA7-5872-BD0B9D2C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91888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C41919-ACFD-3554-61EF-884AE647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296D6F-1D48-AA4B-95FF-75189976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1F0ABE-00A7-CE03-49FC-0663E16FA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71D3ED-E9A4-0B13-2445-7E2AC6548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EE0F6E-D29E-3E81-6C06-0E721FA8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B13094-EA30-8537-5BC8-323842DE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64886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DAA841-5B57-B359-F577-822EFBCF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D9FE4DD-FBC3-4362-1E36-63869DC7D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D64A57-31C3-F63E-1F58-4536607E1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0FF97-412D-41DC-EE02-B5BA31E1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ACCB2E-DE1A-EF03-CE5C-AB7193D0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4B256A-BA25-610F-ED10-85EABDB0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425212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FB0E1-F220-A89B-50C7-9EC1BDB0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1BAE8-7EFB-0992-BE28-B2AF54AB5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2A4D72-A32D-38D1-AE91-42D6AFCA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C9268F-4B61-03C5-532E-347BA5B6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50E41-3F87-CA8A-92C5-0D887A4C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07896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73A822-DF62-03FB-EC85-1E1F0209D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AC117F-672C-C655-D1E6-3677DF250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B7C136-E631-33A8-7A84-E4178309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C98AC9-F2EA-B3E4-C9B1-8576435B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91896F-A5E7-8EE1-6896-B6BB419B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71770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C01361-832D-C54C-6396-E97AB539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EEFA10-E7CB-1121-FFC9-EA82410FA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DAB0F-5E9A-FF7A-DBDD-B3503A515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301D7-D863-F944-8077-5EC745DA8FC9}" type="datetimeFigureOut">
              <a:rPr kumimoji="1" lang="ja-US" altLang="en-US" smtClean="0"/>
              <a:t>3/12/26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4BC4F6-EAED-69D1-433F-567CCF433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88BED4-60CB-A055-97C9-4EF69BBCF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1E53D-EA35-274E-952D-E1FB0F3CD326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2104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cpa.or.jp/cpainfo/introduction/organization/history/" TargetMode="External"/><Relationship Id="rId2" Type="http://schemas.openxmlformats.org/officeDocument/2006/relationships/hyperlink" Target="https://www.hp.jicpa.or.jp/english/accounting/history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icpa.or.jp/cpainfo/introduction/organization/history/" TargetMode="External"/><Relationship Id="rId2" Type="http://schemas.openxmlformats.org/officeDocument/2006/relationships/hyperlink" Target="https://www.hp.jicpa.or.jp/english/accounting/history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frs.org/use-around-the-world/use-of-ifrs-standards-by-jurisdiction/view-jurisdiction/japa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connect.co/japan/list-of-international-accounting-standards/" TargetMode="External"/><Relationship Id="rId2" Type="http://schemas.openxmlformats.org/officeDocument/2006/relationships/hyperlink" Target="https://www.theglobaltreasurer.com/2015/05/01/five-reasons-why-japanese-companies-are-adopting-if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ippon.com/en/currents/d0015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6735A6-D244-72A9-9C06-1BE64677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763837"/>
          </a:xfrm>
        </p:spPr>
        <p:txBody>
          <a:bodyPr/>
          <a:lstStyle/>
          <a:p>
            <a:r>
              <a:rPr kumimoji="1" lang="ja-US" altLang="en-US" b="1" dirty="0"/>
              <a:t>自習３ー日本会計基準の歴史、</a:t>
            </a:r>
            <a:r>
              <a:rPr kumimoji="1" lang="en-US" altLang="ja-US" dirty="0"/>
              <a:t>IFRS</a:t>
            </a:r>
            <a:r>
              <a:rPr kumimoji="1" lang="ja-US" altLang="en-US" b="1" dirty="0"/>
              <a:t>との違い</a:t>
            </a:r>
          </a:p>
        </p:txBody>
      </p:sp>
    </p:spTree>
    <p:extLst>
      <p:ext uri="{BB962C8B-B14F-4D97-AF65-F5344CB8AC3E}">
        <p14:creationId xmlns:p14="http://schemas.microsoft.com/office/powerpoint/2010/main" val="413195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3EC2F2-DEA4-49E4-33EF-4BC0A7DB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US" altLang="en-US" dirty="0"/>
              <a:t>日本会計基準の歴史ー戦後期</a:t>
            </a:r>
            <a:br>
              <a:rPr kumimoji="1" lang="en-US" altLang="ja-US" dirty="0"/>
            </a:br>
            <a:r>
              <a:rPr kumimoji="1" lang="ja-US" altLang="en-US" dirty="0"/>
              <a:t>（</a:t>
            </a:r>
            <a:r>
              <a:rPr kumimoji="1" lang="en-US" altLang="ja-US" dirty="0"/>
              <a:t>1948</a:t>
            </a:r>
            <a:r>
              <a:rPr kumimoji="1" lang="ja-US" altLang="en-US" dirty="0"/>
              <a:t>年ー</a:t>
            </a:r>
            <a:r>
              <a:rPr kumimoji="1" lang="en-US" altLang="ja-US" dirty="0"/>
              <a:t>1949</a:t>
            </a:r>
            <a:r>
              <a:rPr kumimoji="1" lang="ja-US" altLang="en-US" dirty="0"/>
              <a:t>年）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2368DD-67B7-2740-C13D-5F95B635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証券取引法（しょうけんとりひきほう）</a:t>
            </a:r>
            <a:r>
              <a:rPr lang="ja-US" altLang="en-US" dirty="0"/>
              <a:t>制定</a:t>
            </a:r>
            <a:endParaRPr lang="ja-JP" altLang="en-US"/>
          </a:p>
          <a:p>
            <a:pPr lvl="1"/>
            <a:r>
              <a:rPr lang="ja-JP" altLang="en-US"/>
              <a:t>企業は財務情報を公開しなければなれないと述べた</a:t>
            </a:r>
          </a:p>
          <a:p>
            <a:r>
              <a:rPr lang="ja-JP" altLang="en-US"/>
              <a:t>公認会計士法（こうにんかいけいしほう）</a:t>
            </a:r>
            <a:r>
              <a:rPr lang="ja-US" altLang="en-US" dirty="0"/>
              <a:t> 制定</a:t>
            </a:r>
            <a:endParaRPr lang="ja-JP" altLang="en-US"/>
          </a:p>
          <a:p>
            <a:pPr lvl="1"/>
            <a:r>
              <a:rPr lang="ja-JP" altLang="en-US"/>
              <a:t>財務諸表をチェックする免許を作った</a:t>
            </a:r>
          </a:p>
          <a:p>
            <a:r>
              <a:rPr lang="ja-JP" altLang="en-US"/>
              <a:t>企業会計原則（きぎょうかいけいげんそく）</a:t>
            </a:r>
            <a:r>
              <a:rPr lang="ja-US" altLang="en-US" dirty="0"/>
              <a:t> 制定</a:t>
            </a:r>
            <a:endParaRPr lang="ja-JP" altLang="en-US"/>
          </a:p>
          <a:p>
            <a:pPr lvl="1"/>
            <a:r>
              <a:rPr lang="ja-JP" altLang="en-US"/>
              <a:t>最初の会計ルールブック</a:t>
            </a:r>
            <a:endParaRPr lang="en-US" altLang="ja-JP" dirty="0"/>
          </a:p>
          <a:p>
            <a:pPr marL="914400" lvl="2" indent="0">
              <a:buNone/>
            </a:pPr>
            <a:endParaRPr lang="ja-JP" altLang="en-US"/>
          </a:p>
          <a:p>
            <a:r>
              <a:rPr lang="ja-JP" altLang="en-US"/>
              <a:t>第二次世界大戦後、日本は企業への信頼を求めたため、この法律を作りました。これは経済を立て直す必要があったからです。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A774E5-0AB2-EBAA-8918-259AE8BE0B63}"/>
              </a:ext>
            </a:extLst>
          </p:cNvPr>
          <p:cNvSpPr txBox="1"/>
          <p:nvPr/>
        </p:nvSpPr>
        <p:spPr>
          <a:xfrm>
            <a:off x="457200" y="6311900"/>
            <a:ext cx="1089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/>
              <a:t>英語ー</a:t>
            </a:r>
            <a:r>
              <a:rPr lang="en-US" altLang="ja-US" sz="1400" dirty="0">
                <a:hlinkClick r:id="rId2"/>
              </a:rPr>
              <a:t>https://www.hp.jicpa.or.jp/english/accounting/history/index.html</a:t>
            </a:r>
            <a:r>
              <a:rPr lang="ja-US" altLang="en-US" sz="1400" dirty="0"/>
              <a:t>　</a:t>
            </a:r>
          </a:p>
          <a:p>
            <a:r>
              <a:rPr lang="ja-JP" altLang="en-US" sz="1400"/>
              <a:t>日本語ー</a:t>
            </a:r>
            <a:r>
              <a:rPr lang="en-US" altLang="ja-US" sz="1400" dirty="0">
                <a:hlinkClick r:id="rId3"/>
              </a:rPr>
              <a:t>https://jicpa.or.jp/cpainfo/introduction/organization/history/</a:t>
            </a:r>
            <a:endParaRPr lang="en-US" altLang="ja-US" sz="1400" dirty="0"/>
          </a:p>
          <a:p>
            <a:endParaRPr kumimoji="1" lang="ja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457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F687-F679-070D-8D09-1D58635A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0E9CC-5A6C-AD67-BCAB-B2F321F1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US" altLang="en-US" dirty="0"/>
              <a:t>日本会計基準の歴史ー高度経済成長期</a:t>
            </a:r>
            <a:br>
              <a:rPr kumimoji="1" lang="en-US" altLang="ja-US" dirty="0"/>
            </a:br>
            <a:r>
              <a:rPr kumimoji="1" lang="ja-US" altLang="en-US" dirty="0"/>
              <a:t>（</a:t>
            </a:r>
            <a:r>
              <a:rPr kumimoji="1" lang="en-US" altLang="ja-US" dirty="0"/>
              <a:t>1973</a:t>
            </a:r>
            <a:r>
              <a:rPr kumimoji="1" lang="ja-US" altLang="en-US" dirty="0"/>
              <a:t>年ー</a:t>
            </a:r>
            <a:r>
              <a:rPr kumimoji="1" lang="en-US" altLang="ja-US" dirty="0"/>
              <a:t>1977</a:t>
            </a:r>
            <a:r>
              <a:rPr kumimoji="1" lang="ja-US" altLang="en-US" dirty="0"/>
              <a:t>年）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A98DC-3943-0522-3243-26B165FFF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562"/>
            <a:ext cx="10515600" cy="4351338"/>
          </a:xfrm>
        </p:spPr>
        <p:txBody>
          <a:bodyPr>
            <a:normAutofit/>
          </a:bodyPr>
          <a:lstStyle/>
          <a:p>
            <a:r>
              <a:rPr lang="ja-JP" altLang="en-US"/>
              <a:t>連結財務諸表（れんけつざいむしょひょう）が義務になった</a:t>
            </a:r>
          </a:p>
          <a:p>
            <a:pPr lvl="1"/>
            <a:r>
              <a:rPr lang="ja-JP" altLang="en-US"/>
              <a:t>親会社は子会社の財務情報も報告しなければならない</a:t>
            </a:r>
          </a:p>
          <a:p>
            <a:r>
              <a:rPr lang="en-US" altLang="ja-US" dirty="0"/>
              <a:t>IASC</a:t>
            </a:r>
            <a:r>
              <a:rPr lang="ja-US" altLang="en-US" dirty="0"/>
              <a:t>（</a:t>
            </a:r>
            <a:r>
              <a:rPr lang="ja-JP" altLang="en-US"/>
              <a:t>国際会計基準委員会）設立</a:t>
            </a:r>
            <a:endParaRPr lang="en-US" altLang="ja-JP" dirty="0"/>
          </a:p>
          <a:p>
            <a:pPr lvl="1"/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lang="ja-JP" altLang="en-US"/>
          </a:p>
          <a:p>
            <a:r>
              <a:rPr lang="ja-JP" altLang="en-US"/>
              <a:t>世界中の会社が企業の一分を隠すことが多くなったため、日本と他の国が会計基準を強化するとともに、統一する希望も持っていました。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FE9CED-2D48-7A73-A578-D37A942BF615}"/>
              </a:ext>
            </a:extLst>
          </p:cNvPr>
          <p:cNvSpPr txBox="1"/>
          <p:nvPr/>
        </p:nvSpPr>
        <p:spPr>
          <a:xfrm>
            <a:off x="457200" y="6311900"/>
            <a:ext cx="1089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/>
              <a:t>英語ー</a:t>
            </a:r>
            <a:r>
              <a:rPr lang="en-US" altLang="ja-US" sz="1400" dirty="0">
                <a:hlinkClick r:id="rId2"/>
              </a:rPr>
              <a:t>https://www.hp.jicpa.or.jp/english/accounting/history/index.html</a:t>
            </a:r>
            <a:r>
              <a:rPr lang="ja-US" altLang="en-US" sz="1400" dirty="0"/>
              <a:t>　</a:t>
            </a:r>
          </a:p>
          <a:p>
            <a:r>
              <a:rPr lang="ja-JP" altLang="en-US" sz="1400"/>
              <a:t>日本語ー</a:t>
            </a:r>
            <a:r>
              <a:rPr lang="en-US" altLang="ja-US" sz="1400" dirty="0">
                <a:hlinkClick r:id="rId3"/>
              </a:rPr>
              <a:t>https://jicpa.or.jp/cpainfo/introduction/organization/history/</a:t>
            </a:r>
            <a:endParaRPr lang="en-US" altLang="ja-US" sz="1400" dirty="0"/>
          </a:p>
          <a:p>
            <a:endParaRPr kumimoji="1" lang="ja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3910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2BA5-E382-BCCE-0FD4-F5247319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91F8E-E024-49C5-E4FF-3486A203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US" altLang="en-US" dirty="0"/>
              <a:t>日本会計基準の歴史ー現在</a:t>
            </a:r>
            <a:br>
              <a:rPr kumimoji="1" lang="en-US" altLang="ja-US" dirty="0"/>
            </a:br>
            <a:r>
              <a:rPr kumimoji="1" lang="ja-US" altLang="en-US" dirty="0"/>
              <a:t>（</a:t>
            </a:r>
            <a:r>
              <a:rPr kumimoji="1" lang="en-US" altLang="ja-US" dirty="0"/>
              <a:t>2001</a:t>
            </a:r>
            <a:r>
              <a:rPr kumimoji="1" lang="ja-US" altLang="en-US" dirty="0"/>
              <a:t>年ー</a:t>
            </a:r>
            <a:r>
              <a:rPr kumimoji="1" lang="en-US" altLang="ja-US" dirty="0"/>
              <a:t>2010</a:t>
            </a:r>
            <a:r>
              <a:rPr kumimoji="1" lang="ja-US" altLang="en-US" dirty="0"/>
              <a:t>年）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8A3EBC-DE27-308A-9F70-771B2D805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企業会計基準委員会（きぎょうかいけいきじゅんいいんかい）、またの名を</a:t>
            </a:r>
            <a:r>
              <a:rPr lang="en-US" altLang="ja-US" dirty="0"/>
              <a:t>ASBJ</a:t>
            </a:r>
            <a:r>
              <a:rPr lang="ja-JP" altLang="en-US"/>
              <a:t>の設立</a:t>
            </a:r>
          </a:p>
          <a:p>
            <a:r>
              <a:rPr lang="ja-JP" altLang="en-US"/>
              <a:t>証券取引法や他の法律が金融商品取引法（きんゆうしょうひんとりひきほう）に統合された</a:t>
            </a:r>
          </a:p>
          <a:p>
            <a:r>
              <a:rPr lang="ja-JP" altLang="en-US"/>
              <a:t>日本の企業が</a:t>
            </a:r>
            <a:r>
              <a:rPr lang="en-US" altLang="ja-US" dirty="0"/>
              <a:t>IFRS</a:t>
            </a:r>
            <a:r>
              <a:rPr lang="ja-JP" altLang="en-US"/>
              <a:t>と</a:t>
            </a:r>
            <a:r>
              <a:rPr lang="en-US" altLang="ja-US" dirty="0"/>
              <a:t>JGAAP</a:t>
            </a:r>
            <a:r>
              <a:rPr lang="ja-JP" altLang="en-US"/>
              <a:t>を自由に選択できるようになった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日本の会計制度が国際化に向けて変更し</a:t>
            </a:r>
            <a:r>
              <a:rPr lang="ja-US" altLang="en-US" dirty="0"/>
              <a:t>続けた</a:t>
            </a:r>
            <a:endParaRPr lang="ja-JP" altLang="en-US"/>
          </a:p>
          <a:p>
            <a:endParaRPr kumimoji="1" lang="ja-US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16FBA3-8B7F-2BB2-DBE0-21E6FB9B377C}"/>
              </a:ext>
            </a:extLst>
          </p:cNvPr>
          <p:cNvSpPr txBox="1"/>
          <p:nvPr/>
        </p:nvSpPr>
        <p:spPr>
          <a:xfrm>
            <a:off x="751115" y="6492875"/>
            <a:ext cx="8277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US" sz="1400" dirty="0">
                <a:hlinkClick r:id="rId2"/>
              </a:rPr>
              <a:t>https://www.ifrs.org/use-around-the-world/use-of-ifrs-standards-by-jurisdiction/view-jurisdiction/japan/</a:t>
            </a:r>
            <a:r>
              <a:rPr lang="en-US" altLang="ja-US" sz="1400" dirty="0"/>
              <a:t> </a:t>
            </a:r>
          </a:p>
          <a:p>
            <a:endParaRPr kumimoji="1" lang="ja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018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B84BAE-884D-84D4-4AD0-D26D0A99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US" dirty="0"/>
              <a:t>IFRS</a:t>
            </a:r>
            <a:r>
              <a:rPr kumimoji="1" lang="ja-US" altLang="en-US" dirty="0"/>
              <a:t>と</a:t>
            </a:r>
            <a:r>
              <a:rPr kumimoji="1" lang="en-US" altLang="ja-US" dirty="0"/>
              <a:t>JGAAP</a:t>
            </a:r>
            <a:r>
              <a:rPr kumimoji="1" lang="ja-US" altLang="en-US" dirty="0"/>
              <a:t>：どちらを選ぶべきか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AA6DF04F-64ED-22AB-4CE8-755BF592F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051228"/>
              </p:ext>
            </p:extLst>
          </p:nvPr>
        </p:nvGraphicFramePr>
        <p:xfrm>
          <a:off x="838200" y="2500538"/>
          <a:ext cx="10515600" cy="3176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172773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0229392"/>
                    </a:ext>
                  </a:extLst>
                </a:gridCol>
              </a:tblGrid>
              <a:tr h="601890">
                <a:tc>
                  <a:txBody>
                    <a:bodyPr/>
                    <a:lstStyle/>
                    <a:p>
                      <a:pPr algn="ctr"/>
                      <a:r>
                        <a:rPr lang="en-US" altLang="ja-US" sz="3200" dirty="0"/>
                        <a:t>IFRS</a:t>
                      </a:r>
                      <a:r>
                        <a:rPr lang="ja-US" altLang="en-US" sz="3200" dirty="0"/>
                        <a:t>を選ぶ理由</a:t>
                      </a:r>
                      <a:endParaRPr lang="ja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US" sz="3200" dirty="0"/>
                        <a:t>JGAAP</a:t>
                      </a:r>
                      <a:r>
                        <a:rPr lang="ja-US" altLang="en-US" sz="3200" dirty="0"/>
                        <a:t>を選ぶ理由</a:t>
                      </a:r>
                      <a:endParaRPr lang="en-US" altLang="ja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27287"/>
                  </a:ext>
                </a:extLst>
              </a:tr>
              <a:tr h="858044">
                <a:tc>
                  <a:txBody>
                    <a:bodyPr/>
                    <a:lstStyle/>
                    <a:p>
                      <a:r>
                        <a:rPr lang="ja-US" altLang="en-US" dirty="0"/>
                        <a:t>グローバルな投資家とのコミュニケーション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US" altLang="en-US" dirty="0"/>
                        <a:t>日本の投資家とのコミューニケーション</a:t>
                      </a:r>
                    </a:p>
                    <a:p>
                      <a:endParaRPr lang="ja-US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661017"/>
                  </a:ext>
                </a:extLst>
              </a:tr>
              <a:tr h="858044">
                <a:tc>
                  <a:txBody>
                    <a:bodyPr/>
                    <a:lstStyle/>
                    <a:p>
                      <a:r>
                        <a:rPr lang="ja-US" altLang="en-US" dirty="0"/>
                        <a:t>国際的な競合他社との比較を可能にする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US" dirty="0"/>
                        <a:t>IFRS</a:t>
                      </a:r>
                      <a:r>
                        <a:rPr lang="ja-US" altLang="en-US" dirty="0"/>
                        <a:t>への移行には、いろいろなコストがかかる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040294"/>
                  </a:ext>
                </a:extLst>
              </a:tr>
              <a:tr h="858044">
                <a:tc>
                  <a:txBody>
                    <a:bodyPr/>
                    <a:lstStyle/>
                    <a:p>
                      <a:r>
                        <a:rPr lang="ja-US" altLang="en-US" dirty="0"/>
                        <a:t>グローバル経営の効率化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US" altLang="en-US" dirty="0"/>
                        <a:t>日本の税法基準に基づいた基準なので、税法を従うために効率的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397851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8EE826-56C6-D8AF-188F-3C75214BF2F7}"/>
              </a:ext>
            </a:extLst>
          </p:cNvPr>
          <p:cNvSpPr txBox="1"/>
          <p:nvPr/>
        </p:nvSpPr>
        <p:spPr>
          <a:xfrm>
            <a:off x="838200" y="6169709"/>
            <a:ext cx="7272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US" sz="1200" dirty="0">
                <a:hlinkClick r:id="rId2"/>
              </a:rPr>
              <a:t>https://www.theglobaltreasurer.com/2015/05/01/five-reasons-why-japanese-companies-are-adopting-ifrs/</a:t>
            </a:r>
            <a:endParaRPr lang="en-US" altLang="ja-US" sz="1200" dirty="0"/>
          </a:p>
          <a:p>
            <a:r>
              <a:rPr lang="en-US" altLang="ja-US" sz="1200" dirty="0">
                <a:hlinkClick r:id="rId3"/>
              </a:rPr>
              <a:t>https://weconnect.co/japan/list-of-international-accounting-standards/</a:t>
            </a:r>
            <a:endParaRPr lang="en-US" altLang="ja-US" sz="1200" dirty="0"/>
          </a:p>
          <a:p>
            <a:r>
              <a:rPr lang="en-US" altLang="ja-US" sz="1200" dirty="0">
                <a:hlinkClick r:id="rId4"/>
              </a:rPr>
              <a:t>https://www.nippon.com/en/currents/d00152/</a:t>
            </a:r>
            <a:endParaRPr lang="en-US" altLang="ja-US" sz="1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17C78E-B5AD-6DA9-DAA4-354D91A639C2}"/>
              </a:ext>
            </a:extLst>
          </p:cNvPr>
          <p:cNvSpPr txBox="1"/>
          <p:nvPr/>
        </p:nvSpPr>
        <p:spPr>
          <a:xfrm flipH="1">
            <a:off x="838200" y="1560060"/>
            <a:ext cx="9786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US" altLang="en-US" sz="2000" dirty="0"/>
              <a:t>先のスライドに、日本の企業を自由に</a:t>
            </a:r>
            <a:r>
              <a:rPr kumimoji="1" lang="en-US" altLang="ja-US" sz="2000" dirty="0"/>
              <a:t>IFRS</a:t>
            </a:r>
            <a:r>
              <a:rPr kumimoji="1" lang="ja-US" altLang="en-US" sz="2000" dirty="0"/>
              <a:t>と</a:t>
            </a:r>
            <a:r>
              <a:rPr kumimoji="1" lang="en-US" altLang="ja-US" sz="2000" dirty="0"/>
              <a:t>JGAAP</a:t>
            </a:r>
            <a:r>
              <a:rPr kumimoji="1" lang="ja-US" altLang="en-US" sz="2000" dirty="0"/>
              <a:t>を選べるようになったと書いた。この表はその二つの制度を選ぶメリットが書かれています。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98979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426</Words>
  <Application>Microsoft Macintosh PowerPoint</Application>
  <PresentationFormat>ワイド画面</PresentationFormat>
  <Paragraphs>43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テーマ</vt:lpstr>
      <vt:lpstr>自習３ー日本会計基準の歴史、IFRSとの違い</vt:lpstr>
      <vt:lpstr>日本会計基準の歴史ー戦後期 （1948年ー1949年）</vt:lpstr>
      <vt:lpstr>日本会計基準の歴史ー高度経済成長期 （1973年ー1977年）</vt:lpstr>
      <vt:lpstr>日本会計基準の歴史ー現在 （2001年ー2010年）</vt:lpstr>
      <vt:lpstr>IFRSとJGAAP：どちらを選ぶべきか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Vail, Jacob C.</dc:creator>
  <cp:lastModifiedBy>Vail, Jacob C.</cp:lastModifiedBy>
  <cp:revision>1</cp:revision>
  <dcterms:created xsi:type="dcterms:W3CDTF">2026-03-12T19:19:49Z</dcterms:created>
  <dcterms:modified xsi:type="dcterms:W3CDTF">2026-03-12T19:59:42Z</dcterms:modified>
</cp:coreProperties>
</file>